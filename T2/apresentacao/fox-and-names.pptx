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60" r:id="rId13"/>
    <p:sldId id="261" r:id="rId14"/>
    <p:sldId id="262" r:id="rId15"/>
    <p:sldId id="263" r:id="rId16"/>
    <p:sldId id="268" r:id="rId21"/>
    <p:sldId id="264" r:id="rId17"/>
    <p:sldId id="269" r:id="rId22"/>
    <p:sldId id="270" r:id="rId23"/>
    <p:sldId id="265" r:id="rId18"/>
    <p:sldId id="266" r:id="rId19"/>
    <p:sldId id="267" r:id="rId20"/>
    <p:sldId id="259" r:id="rId8"/>
  </p:sldIdLst>
  <p:sldSz cy="5143500" cx="9144000"/>
  <p:notesSz cx="6858000" cy="9144000"/>
  <p:embeddedFontLst>
    <p:embeddedFont>
      <p:font typeface="Albert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font" Target="fonts/AlbertSans-italic.fntdata"/><Relationship Id="rId10" Type="http://schemas.openxmlformats.org/officeDocument/2006/relationships/font" Target="fonts/AlbertSans-bold.fntdata"/><Relationship Id="rId12" Type="http://schemas.openxmlformats.org/officeDocument/2006/relationships/font" Target="fonts/Alber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lbert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3" Type="http://schemas.openxmlformats.org/officeDocument/2006/relationships/slide" Target="slides/slide5.xml"/>
  <Relationship Id="rId14" Type="http://schemas.openxmlformats.org/officeDocument/2006/relationships/slide" Target="slides/slide6.xml"/>
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Claro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Clar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Claro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Claro">
  <p:cSld name="BLANK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Clar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Claro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Claro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Escuro">
  <p:cSld name="BLANK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subtítulo - Escuro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2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b="1" sz="4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Escuro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b="1"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Escuro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Escuro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Escuro">
  <p:cSld name="BIG_NUMBER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Escuro">
  <p:cSld name="BIG_NUMBER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Escuro">
  <p:cSld name="BLANK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Claro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b="1" sz="3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Escuro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b="1" sz="3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99" Type="http://schemas.openxmlformats.org/officeDocument/2006/relationships/image" Target="../media/print_codeforces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b="1" lang="pt-BR" sz="3000"/>
              <a:t>Fox And Names (Codeforces 510C)</a:t>
            </a:r>
            <a:endParaRPr b="1"/>
          </a:p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/>
              <a:t>Ordenação topológica de letras com DFS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pt-BR" sz="1400"/>
              <a:t>Alunos:</a:t>
            </a:r>
            <a:endParaRPr b="1"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pt-BR" sz="1400"/>
              <a:t>Samuel Ribeiro Benicio - 2310281</a:t>
            </a:r>
            <a:endParaRPr b="1"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pt-BR" sz="1400"/>
              <a:t>Adriel Medeiros Lins - 2013246</a:t>
            </a:r>
            <a:endParaRPr b="1"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i="1" lang="pt-BR" sz="1400"/>
              <a:t>Manoel Sergio Costa Lima - 2422973</a:t>
            </a:r>
            <a:endParaRPr b="1"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Orientador: Prof. Me. Ricardo Carubbi</a:t>
            </a:r>
            <a:endParaRPr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Disciplina: Resolução prob Grafos</a:t>
            </a:r>
            <a:r>
              <a:rPr i="1" lang="pt-BR" sz="1400"/>
              <a:t/>
            </a:r>
            <a:endParaRPr i="1" sz="1400"/>
          </a:p>
          <a:p>
            <a:pPr indent="0" lvl="0" marL="0" marR="146268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Centro de Ci</a:t>
            </a:r>
            <a:r>
              <a:rPr i="1" lang="pt-BR" sz="1400"/>
              <a:t>ências Tecnológicas - CCT</a:t>
            </a:r>
            <a:endParaRPr i="1" sz="1400"/>
          </a:p>
          <a:p>
            <a:pPr indent="0" lvl="0" marL="0" marR="146269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pt-BR" sz="1400"/>
              <a:t>Universidade de Fortaleza - UNIFOR</a:t>
            </a:r>
            <a:endParaRPr i="1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b="1" lang="pt-BR" sz="2850"/>
              <a:t>Fox And Names</a:t>
            </a:r>
            <a:endParaRPr b="1" sz="285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900">
                <a:solidFill>
                  <a:schemeClr val="dk2"/>
                </a:solidFill>
              </a:rPr>
              <a:t>Roteiro da apresentação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t/>
            </a:r>
            <a:endParaRPr sz="2450"/>
          </a:p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2000"/>
              <a:t>Agenda</a:t>
            </a:r>
            <a:endParaRPr b="1" sz="2000"/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Problema;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Modelagem em grafo;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Representação computacional;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Solução com DFS;</a:t>
            </a:r>
          </a:p>
          <a:p>
            <a:pPr marL="285750" indent="-28575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dirty="0">
                <a:latin typeface="Albert Sans"/>
                <a:cs typeface="Albert Sans"/>
              </a:rPr>
              <a:t>Validação e conclusão.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Problema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Fox And Names — Codeforces 510C</a:t>
            </a:r>
          </a:p>
        </p:txBody>
      </p:sp>
      <p:sp>
        <p:nvSpPr>
          <p:cNvPr id="102" name="Corpo"/>
          <p:cNvSpPr/>
          <p:nvPr>
            <p:ph idx="1" type="body"/>
          </p:nvPr>
        </p:nvSpPr>
        <p:spPr>
          <a:xfrm>
            <a:off x="702350" y="1400000"/>
            <a:ext cx="405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Lista de n</a:t>
            </a:r>
            <a:r>
              <a:rPr lang="pt-BR" sz="1400" dirty="0">
                <a:latin typeface="Albert Sans"/>
                <a:cs typeface="Albert Sans"/>
              </a:rPr>
              <a:t xml:space="preserve"> nomes (n ≤ 100, até 100 letras cada), na ordem dada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Achar uma ordem</a:t>
            </a:r>
            <a:r>
              <a:rPr lang="pt-BR" sz="1400" dirty="0">
                <a:latin typeface="Albert Sans"/>
                <a:cs typeface="Albert Sans"/>
              </a:rPr>
              <a:t xml:space="preserve"> das 26 letras que deixe a lista em ordem lexicográfica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Saída:</a:t>
            </a:r>
            <a:r>
              <a:rPr lang="pt-BR" sz="1400" dirty="0">
                <a:latin typeface="Albert Sans"/>
                <a:cs typeface="Albert Sans"/>
              </a:rPr>
              <a:t xml:space="preserve"> qualquer permutação válida, ou Impossible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Prefixo:</a:t>
            </a:r>
            <a:r>
              <a:rPr lang="pt-BR" sz="1400" dirty="0">
                <a:latin typeface="Albert Sans"/>
                <a:cs typeface="Albert Sans"/>
              </a:rPr>
              <a:t xml:space="preserve"> o nome menor deve vir primeiro</a:t>
            </a:r>
          </a:p>
        </p:txBody>
      </p:sp>
      <p:sp>
        <p:nvSpPr>
          <p:cNvPr id="103" name="Exemplo"/>
          <p:cNvSpPr/>
          <p:nvPr/>
        </p:nvSpPr>
        <p:spPr>
          <a:xfrm>
            <a:off x="5000000" y="1500000"/>
            <a:ext cx="3450000" cy="21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Entrada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baa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abcd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abca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cab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dirty="0">
                <a:latin typeface="Albert Sans"/>
                <a:cs typeface="Albert Sans"/>
              </a:rPr>
              <a:t xml:space="preserve"> 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Uma saída válida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dirty="0">
                <a:solidFill>
                  <a:srgbClr val="1F2937"/>
                </a:solidFill>
                <a:latin typeface="Courier New"/>
                <a:cs typeface="Courier New"/>
              </a:rPr>
              <a:t>dbacefghijklmnopqrstuvwxyz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Modelagem em grafo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Uma condição de ordem vira um grafo de precedência</a:t>
            </a:r>
          </a:p>
        </p:txBody>
      </p:sp>
      <p:sp>
        <p:nvSpPr>
          <p:cNvPr id="105" name="Modelo Vértices"/>
          <p:cNvSpPr/>
          <p:nvPr/>
        </p:nvSpPr>
        <p:spPr>
          <a:xfrm>
            <a:off x="702350" y="1450000"/>
            <a:ext cx="245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004AF7"/>
                </a:solidFill>
                <a:latin typeface="Albert Sans"/>
                <a:cs typeface="Albert Sans"/>
              </a:rPr>
              <a:t>Vértices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Uma letra por vértice.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26 vértices, a até z.</a:t>
            </a:r>
          </a:p>
        </p:txBody>
      </p:sp>
      <p:sp>
        <p:nvSpPr>
          <p:cNvPr id="106" name="Modelo Arestas"/>
          <p:cNvSpPr/>
          <p:nvPr/>
        </p:nvSpPr>
        <p:spPr>
          <a:xfrm>
            <a:off x="3350000" y="1450000"/>
            <a:ext cx="245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004AF7"/>
                </a:solidFill>
                <a:latin typeface="Albert Sans"/>
                <a:cs typeface="Albert Sans"/>
              </a:rPr>
              <a:t>Arestas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Nomes consecutivos: na 1ª posição com x ≠ y,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cria-se x → y.</a:t>
            </a:r>
          </a:p>
        </p:txBody>
      </p:sp>
      <p:sp>
        <p:nvSpPr>
          <p:cNvPr id="107" name="Modelo Critério"/>
          <p:cNvSpPr/>
          <p:nvPr/>
        </p:nvSpPr>
        <p:spPr>
          <a:xfrm>
            <a:off x="6000000" y="1450000"/>
            <a:ext cx="2450000" cy="15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pt-BR" sz="1500" b="1" dirty="0">
                <a:solidFill>
                  <a:srgbClr val="004AF7"/>
                </a:solidFill>
                <a:latin typeface="Albert Sans"/>
                <a:cs typeface="Albert Sans"/>
              </a:rPr>
              <a:t>Critério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Ciclo: contradição, Impossible.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dirty="0">
                <a:latin typeface="Albert Sans"/>
                <a:cs typeface="Albert Sans"/>
              </a:rPr>
              <a:t>DAG: ordem topológica.</a:t>
            </a:r>
          </a:p>
        </p:txBody>
      </p:sp>
      <p:sp>
        <p:nvSpPr>
          <p:cNvPr id="108" name="Prefixo"/>
          <p:cNvSpPr txBox="1"/>
          <p:nvPr/>
        </p:nvSpPr>
        <p:spPr>
          <a:xfrm>
            <a:off x="702350" y="3250000"/>
            <a:ext cx="7750000" cy="9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Prefixo:</a:t>
            </a:r>
            <a:r>
              <a:rPr lang="pt-BR" sz="1400" dirty="0">
                <a:latin typeface="Albert Sans"/>
                <a:cs typeface="Albert Sans"/>
              </a:rPr>
              <a:t xml:space="preserve"> sem aresta; o maior antes do seu prefixo é Impossible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Exemplo do grafo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Entrada: baa, abcd, abca, cab</a:t>
            </a:r>
          </a:p>
        </p:txBody>
      </p:sp>
      <p:sp>
        <p:nvSpPr>
          <p:cNvPr id="110" name="Comparacoes"/>
          <p:cNvSpPr txBox="1"/>
          <p:nvPr/>
        </p:nvSpPr>
        <p:spPr>
          <a:xfrm>
            <a:off x="702350" y="1400000"/>
            <a:ext cx="380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baa × abcd:</a:t>
            </a:r>
            <a:r>
              <a:rPr lang="pt-BR" sz="1400" dirty="0">
                <a:latin typeface="Albert Sans"/>
                <a:cs typeface="Albert Sans"/>
              </a:rPr>
              <a:t xml:space="preserve"> b ≠ a, logo b → 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abcd × abca:</a:t>
            </a:r>
            <a:r>
              <a:rPr lang="pt-BR" sz="1400" dirty="0">
                <a:latin typeface="Albert Sans"/>
                <a:cs typeface="Albert Sans"/>
              </a:rPr>
              <a:t xml:space="preserve"> d ≠ a, logo d → 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abca × cab:</a:t>
            </a:r>
            <a:r>
              <a:rPr lang="pt-BR" sz="1400" dirty="0">
                <a:latin typeface="Albert Sans"/>
                <a:cs typeface="Albert Sans"/>
              </a:rPr>
              <a:t xml:space="preserve"> a ≠ c, logo a → c</a:t>
            </a:r>
          </a:p>
        </p:txBody>
      </p:sp>
      <p:cxnSp>
        <p:nvCxnSpPr>
          <p:cNvPr id="111" name="Aresta"/>
          <p:cNvCxnSpPr/>
          <p:nvPr/>
        </p:nvCxnSpPr>
        <p:spPr>
          <a:xfrm>
            <a:off x="5542002" y="2030897"/>
            <a:ext cx="865994" cy="388204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</p:cxnSp>
      <p:cxnSp>
        <p:nvCxnSpPr>
          <p:cNvPr id="112" name="Aresta"/>
          <p:cNvCxnSpPr/>
          <p:nvPr/>
        </p:nvCxnSpPr>
        <p:spPr>
          <a:xfrm flipV="1">
            <a:off x="5542002" y="2680897"/>
            <a:ext cx="865994" cy="388204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</p:cxnSp>
      <p:cxnSp>
        <p:nvCxnSpPr>
          <p:cNvPr id="113" name="Aresta"/>
          <p:cNvCxnSpPr/>
          <p:nvPr/>
        </p:nvCxnSpPr>
        <p:spPr>
          <a:xfrm>
            <a:off x="7020000" y="2550000"/>
            <a:ext cx="710000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</p:cxnSp>
      <p:sp>
        <p:nvSpPr>
          <p:cNvPr id="114" name="Vertice b"/>
          <p:cNvSpPr/>
          <p:nvPr/>
        </p:nvSpPr>
        <p:spPr>
          <a:xfrm>
            <a:off x="4930000" y="158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b</a:t>
            </a:r>
          </a:p>
        </p:txBody>
      </p:sp>
      <p:sp>
        <p:nvSpPr>
          <p:cNvPr id="115" name="Vertice d"/>
          <p:cNvSpPr/>
          <p:nvPr/>
        </p:nvSpPr>
        <p:spPr>
          <a:xfrm>
            <a:off x="4930000" y="288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d</a:t>
            </a:r>
          </a:p>
        </p:txBody>
      </p:sp>
      <p:sp>
        <p:nvSpPr>
          <p:cNvPr id="116" name="Vertice a"/>
          <p:cNvSpPr/>
          <p:nvPr/>
        </p:nvSpPr>
        <p:spPr>
          <a:xfrm>
            <a:off x="6380000" y="223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a</a:t>
            </a:r>
          </a:p>
        </p:txBody>
      </p:sp>
      <p:sp>
        <p:nvSpPr>
          <p:cNvPr id="117" name="Vertice c"/>
          <p:cNvSpPr/>
          <p:nvPr/>
        </p:nvSpPr>
        <p:spPr>
          <a:xfrm>
            <a:off x="7730000" y="2230000"/>
            <a:ext cx="640000" cy="640000"/>
          </a:xfrm>
          <a:prstGeom prst="ellipse">
            <a:avLst/>
          </a:prstGeom>
          <a:solidFill>
            <a:srgbClr val="004AF7"/>
          </a:solidFill>
          <a:ln>
            <a:noFill/>
          </a:ln>
        </p:spPr>
        <p:txBody>
          <a:bodyPr anchor="ctr" lIns="0" tIns="0" rIns="0" bIns="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FFFFFF"/>
                </a:solidFill>
                <a:latin typeface="Albert Sans"/>
                <a:cs typeface="Albert Sans"/>
              </a:rPr>
              <a:t>c</a:t>
            </a:r>
          </a:p>
        </p:txBody>
      </p:sp>
      <p:sp>
        <p:nvSpPr>
          <p:cNvPr id="118" name="Nota"/>
          <p:cNvSpPr txBox="1"/>
          <p:nvPr/>
        </p:nvSpPr>
        <p:spPr>
          <a:xfrm>
            <a:off x="4700000" y="3750000"/>
            <a:ext cx="3750000" cy="6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i="1" dirty="0">
                <a:solidFill>
                  <a:srgbClr val="132190"/>
                </a:solidFill>
                <a:latin typeface="Albert Sans"/>
                <a:cs typeface="Albert Sans"/>
              </a:rPr>
              <a:t>As outras 23 letras ficam isoladas.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Representação computacional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Dígrafo de 26 vértices com listas de adjacência</a:t>
            </a:r>
          </a:p>
        </p:txBody>
      </p:sp>
      <p:sp>
        <p:nvSpPr>
          <p:cNvPr id="120" name="Estruturas"/>
          <p:cNvSpPr txBox="1"/>
          <p:nvPr/>
        </p:nvSpPr>
        <p:spPr>
          <a:xfrm>
            <a:off x="702350" y="1400000"/>
            <a:ext cx="410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Digraph:</a:t>
            </a:r>
            <a:r>
              <a:rPr lang="pt-BR" sz="1400" dirty="0">
                <a:latin typeface="Albert Sans"/>
                <a:cs typeface="Albert Sans"/>
              </a:rPr>
              <a:t xml:space="preserve"> 26 listas de adjacência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indice(c):</a:t>
            </a:r>
            <a:r>
              <a:rPr lang="pt-BR" sz="1400" dirty="0">
                <a:latin typeface="Albert Sans"/>
                <a:cs typeface="Albert Sans"/>
              </a:rPr>
              <a:t xml:space="preserve"> letra → índice, a=0 até z=25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existe:</a:t>
            </a:r>
            <a:r>
              <a:rPr lang="pt-BR" sz="1400" dirty="0">
                <a:latin typeface="Albert Sans"/>
                <a:cs typeface="Albert Sans"/>
              </a:rPr>
              <a:t xml:space="preserve"> matriz 26×26 evita aresta repetida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marked, on_stack:</a:t>
            </a:r>
            <a:r>
              <a:rPr lang="pt-BR" sz="1400" dirty="0">
                <a:latin typeface="Albert Sans"/>
                <a:cs typeface="Albert Sans"/>
              </a:rPr>
              <a:t xml:space="preserve"> vetores de tamanho 26 para a DFS</a:t>
            </a:r>
          </a:p>
        </p:txBody>
      </p:sp>
      <p:sp>
        <p:nvSpPr>
          <p:cNvPr id="121" name="Listas"/>
          <p:cNvSpPr/>
          <p:nvPr/>
        </p:nvSpPr>
        <p:spPr>
          <a:xfrm>
            <a:off x="5000000" y="1500000"/>
            <a:ext cx="3450000" cy="1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Listas do exemplo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adj(a) = [c]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adj(b) = [a]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adj(d) = [a]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adj(c) = []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adj(e..z) = []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Solução com DFS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Detectar ciclo e ordenar usam a mesma busca em profundidade</a:t>
            </a:r>
          </a:p>
        </p:txBody>
      </p:sp>
      <p:sp>
        <p:nvSpPr>
          <p:cNvPr id="123" name="Etapa 1. Arestas"/>
          <p:cNvSpPr/>
          <p:nvPr/>
        </p:nvSpPr>
        <p:spPr>
          <a:xfrm>
            <a:off x="70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1. Arestas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Compara nomes consecutivos e cria x → y na 1ª diferença.</a:t>
            </a:r>
          </a:p>
        </p:txBody>
      </p:sp>
      <p:sp>
        <p:nvSpPr>
          <p:cNvPr id="124" name="Etapa 2. Prefixo"/>
          <p:cNvSpPr/>
          <p:nvPr/>
        </p:nvSpPr>
        <p:spPr>
          <a:xfrm>
            <a:off x="267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2. Prefixo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Nome maior antes do seu prefixo: Impossible.</a:t>
            </a:r>
          </a:p>
        </p:txBody>
      </p:sp>
      <p:sp>
        <p:nvSpPr>
          <p:cNvPr id="125" name="Etapa 3. Ciclo"/>
          <p:cNvSpPr/>
          <p:nvPr/>
        </p:nvSpPr>
        <p:spPr>
          <a:xfrm>
            <a:off x="464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3. Ciclo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DFS marca os vértices em processamento. Aresta para um deles é ciclo.</a:t>
            </a:r>
          </a:p>
        </p:txBody>
      </p:sp>
      <p:sp>
        <p:nvSpPr>
          <p:cNvPr id="126" name="Etapa 4. Ordem"/>
          <p:cNvSpPr/>
          <p:nvPr/>
        </p:nvSpPr>
        <p:spPr>
          <a:xfrm>
            <a:off x="6612350" y="1450000"/>
            <a:ext cx="1850000" cy="175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300" b="1" dirty="0">
                <a:solidFill>
                  <a:srgbClr val="004AF7"/>
                </a:solidFill>
                <a:latin typeface="Albert Sans"/>
                <a:cs typeface="Albert Sans"/>
              </a:rPr>
              <a:t>4. Ordem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Pós-ordem da DFS, invertida, é a ordem topológica.</a:t>
            </a:r>
          </a:p>
        </p:txBody>
      </p:sp>
      <p:sp>
        <p:nvSpPr>
          <p:cNvPr id="127" name="Notas"/>
          <p:cNvSpPr txBox="1"/>
          <p:nvPr/>
        </p:nvSpPr>
        <p:spPr>
          <a:xfrm>
            <a:off x="702350" y="3400000"/>
            <a:ext cx="7750000" cy="9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Por que DFS:</a:t>
            </a:r>
            <a:r>
              <a:rPr lang="pt-BR" sz="1400" dirty="0">
                <a:latin typeface="Albert Sans"/>
                <a:cs typeface="Albert Sans"/>
              </a:rPr>
              <a:t xml:space="preserve"> Topological reúne as duas etapas na mesma busca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Tempo:</a:t>
            </a:r>
            <a:r>
              <a:rPr lang="pt-BR" sz="1400" dirty="0">
                <a:latin typeface="Albert Sans"/>
                <a:cs typeface="Albert Sans"/>
              </a:rPr>
              <a:t xml:space="preserve"> O(nL + V + E), com V =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DFS no exemplo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Entrada: baa, abcd, abca, cab</a:t>
            </a:r>
          </a:p>
        </p:txBody>
      </p:sp>
      <p:sp>
        <p:nvSpPr>
          <p:cNvPr id="129" name="Passo 1. dfs(a)"/>
          <p:cNvSpPr/>
          <p:nvPr/>
        </p:nvSpPr>
        <p:spPr>
          <a:xfrm>
            <a:off x="702350" y="1450000"/>
            <a:ext cx="245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004AF7"/>
                </a:solidFill>
                <a:latin typeface="Albert Sans"/>
                <a:cs typeface="Albert Sans"/>
              </a:rPr>
              <a:t>1. dfs(a)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visita c e termina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post = [c, a]</a:t>
            </a:r>
          </a:p>
        </p:txBody>
      </p:sp>
      <p:sp>
        <p:nvSpPr>
          <p:cNvPr id="130" name="Passo 2. dfs(b)"/>
          <p:cNvSpPr/>
          <p:nvPr/>
        </p:nvSpPr>
        <p:spPr>
          <a:xfrm>
            <a:off x="3350000" y="1450000"/>
            <a:ext cx="245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004AF7"/>
                </a:solidFill>
                <a:latin typeface="Albert Sans"/>
                <a:cs typeface="Albert Sans"/>
              </a:rPr>
              <a:t>2. dfs(b)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a já concluído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post = [c, a, b]</a:t>
            </a:r>
          </a:p>
        </p:txBody>
      </p:sp>
      <p:sp>
        <p:nvSpPr>
          <p:cNvPr id="131" name="Passo 3. dfs(d)"/>
          <p:cNvSpPr/>
          <p:nvPr/>
        </p:nvSpPr>
        <p:spPr>
          <a:xfrm>
            <a:off x="6000000" y="1450000"/>
            <a:ext cx="2450000" cy="1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91440" tIns="91440" rIns="9144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b="1" dirty="0">
                <a:solidFill>
                  <a:srgbClr val="004AF7"/>
                </a:solidFill>
                <a:latin typeface="Albert Sans"/>
                <a:cs typeface="Albert Sans"/>
              </a:rPr>
              <a:t>3. dfs(d)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a já concluído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1F2937"/>
                </a:solidFill>
                <a:latin typeface="Courier New"/>
                <a:cs typeface="Courier New"/>
              </a:rPr>
              <a:t>post = [c, a, b, d]</a:t>
            </a:r>
          </a:p>
        </p:txBody>
      </p:sp>
      <p:sp>
        <p:nvSpPr>
          <p:cNvPr id="132" name="Resultado"/>
          <p:cNvSpPr txBox="1"/>
          <p:nvPr/>
        </p:nvSpPr>
        <p:spPr>
          <a:xfrm>
            <a:off x="702350" y="3000000"/>
            <a:ext cx="7750000" cy="14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Saída:</a:t>
            </a:r>
            <a:r>
              <a:rPr lang="pt-BR" sz="1400" dirty="0">
                <a:latin typeface="Albert Sans"/>
                <a:cs typeface="Albert Sans"/>
              </a:rPr>
              <a:t xml:space="preserve"> dbacefghijklmnopqrstuvwxyz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Confere:</a:t>
            </a:r>
            <a:r>
              <a:rPr lang="pt-BR" sz="1400" dirty="0">
                <a:latin typeface="Albert Sans"/>
                <a:cs typeface="Albert Sans"/>
              </a:rPr>
              <a:t xml:space="preserve"> b → a, d → a e a → c são respeitadas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Ciclo:</a:t>
            </a:r>
            <a:r>
              <a:rPr lang="pt-BR" sz="1400" dirty="0">
                <a:latin typeface="Albert Sans"/>
                <a:cs typeface="Albert Sans"/>
              </a:rPr>
              <a:t xml:space="preserve"> com c → b, a DFS faria a → c → b → a; a ainda está em on_stack: Impossible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Validação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13 casos de teste e submissão aceita</a:t>
            </a:r>
          </a:p>
        </p:txBody>
      </p:sp>
      <p:sp>
        <p:nvSpPr>
          <p:cNvPr id="134" name="Testes"/>
          <p:cNvSpPr txBox="1"/>
          <p:nvPr/>
        </p:nvSpPr>
        <p:spPr>
          <a:xfrm>
            <a:off x="702350" y="1400000"/>
            <a:ext cx="4100000" cy="19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Casos:</a:t>
            </a:r>
            <a:r>
              <a:rPr lang="pt-BR" sz="1400" dirty="0">
                <a:latin typeface="Albert Sans"/>
                <a:cs typeface="Albert Sans"/>
              </a:rPr>
              <a:t xml:space="preserve"> exemplos do enunciado, ciclos, prefixos, cadeia de 26 letras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Verificador:</a:t>
            </a:r>
            <a:r>
              <a:rPr lang="pt-BR" sz="1400" dirty="0">
                <a:latin typeface="Albert Sans"/>
                <a:cs typeface="Albert Sans"/>
              </a:rPr>
              <a:t xml:space="preserve"> confere permutação e ordem lexicográfica, pois a resposta não é única</a:t>
            </a:r>
          </a:p>
        </p:txBody>
      </p:sp>
      <p:sp>
        <p:nvSpPr>
          <p:cNvPr id="135" name="Casos"/>
          <p:cNvSpPr/>
          <p:nvPr/>
        </p:nvSpPr>
        <p:spPr>
          <a:xfrm>
            <a:off x="4950000" y="1450000"/>
            <a:ext cx="175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2400" b="1" dirty="0">
                <a:solidFill>
                  <a:srgbClr val="004AF7"/>
                </a:solidFill>
                <a:latin typeface="Albert Sans"/>
                <a:cs typeface="Albert Sans"/>
              </a:rPr>
              <a:t>13 / 13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casos corretos</a:t>
            </a:r>
          </a:p>
        </p:txBody>
      </p:sp>
      <p:sp>
        <p:nvSpPr>
          <p:cNvPr id="136" name="Accepted"/>
          <p:cNvSpPr/>
          <p:nvPr/>
        </p:nvSpPr>
        <p:spPr>
          <a:xfrm>
            <a:off x="6800000" y="1450000"/>
            <a:ext cx="1650000" cy="1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pt-BR" sz="1800" b="1" dirty="0">
                <a:solidFill>
                  <a:srgbClr val="004AF7"/>
                </a:solidFill>
                <a:latin typeface="Albert Sans"/>
                <a:cs typeface="Albert Sans"/>
              </a:rPr>
              <a:t>Accepted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latin typeface="Albert Sans"/>
                <a:cs typeface="Albert Sans"/>
              </a:rPr>
              <a:t>62 ms · 800 KB</a:t>
            </a:r>
          </a:p>
        </p:txBody>
      </p:sp>
      <p:pic>
        <p:nvPicPr>
          <p:cNvPr id="137" name="Print Codeforces" descr="Submissão 393638964 no Codeforces: Accepted, Python 3, 62 ms, 800 KB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450000" y="3450000"/>
            <a:ext cx="8250000" cy="605279"/>
          </a:xfrm>
          <a:prstGeom prst="rect">
            <a:avLst/>
          </a:prstGeom>
          <a:ln w="15875">
            <a:solidFill>
              <a:srgbClr val="84B7F9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Conclusão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Uma condição de ordem vira um grafo de precedência</a:t>
            </a:r>
          </a:p>
        </p:txBody>
      </p:sp>
      <p:sp>
        <p:nvSpPr>
          <p:cNvPr id="139" name="Corpo"/>
          <p:cNvSpPr/>
          <p:nvPr>
            <p:ph idx="1" type="body"/>
          </p:nvPr>
        </p:nvSpPr>
        <p:spPr>
          <a:xfrm>
            <a:off x="702350" y="1400000"/>
            <a:ext cx="510000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Modelagem:</a:t>
            </a:r>
            <a:r>
              <a:rPr lang="pt-BR" sz="1400" dirty="0">
                <a:latin typeface="Albert Sans"/>
                <a:cs typeface="Albert Sans"/>
              </a:rPr>
              <a:t xml:space="preserve"> 26 letras, aresta pela primeira diferença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Solução:</a:t>
            </a:r>
            <a:r>
              <a:rPr lang="pt-BR" sz="1400" dirty="0">
                <a:latin typeface="Albert Sans"/>
                <a:cs typeface="Albert Sans"/>
              </a:rPr>
              <a:t xml:space="preserve"> DFS para ciclo e ordem, O(nL + V + E)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Validação:</a:t>
            </a:r>
            <a:r>
              <a:rPr lang="pt-BR" sz="1400" dirty="0">
                <a:latin typeface="Albert Sans"/>
                <a:cs typeface="Albert Sans"/>
              </a:rPr>
              <a:t xml:space="preserve"> 13/13 testes e Accepted no Codeforces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latin typeface="Albert Sans"/>
                <a:cs typeface="Albert Sans"/>
              </a:rPr>
              <a:t>Ideia central:</a:t>
            </a:r>
            <a:r>
              <a:rPr lang="pt-BR" sz="1400" dirty="0">
                <a:latin typeface="Albert Sans"/>
                <a:cs typeface="Albert Sans"/>
              </a:rPr>
              <a:t xml:space="preserve"> ciclo é contradição, DAG tem ordem</a:t>
            </a:r>
          </a:p>
        </p:txBody>
      </p:sp>
      <p:sp>
        <p:nvSpPr>
          <p:cNvPr id="140" name="Etapa"/>
          <p:cNvSpPr/>
          <p:nvPr/>
        </p:nvSpPr>
        <p:spPr>
          <a:xfrm>
            <a:off x="6050000" y="1550000"/>
            <a:ext cx="2400000" cy="650000"/>
          </a:xfrm>
          <a:prstGeom prst="roundRect">
            <a:avLst>
              <a:gd name="adj" fmla="val 8000"/>
            </a:avLst>
          </a:prstGeom>
          <a:solidFill>
            <a:srgbClr val="004AF7"/>
          </a:solidFill>
          <a:ln>
            <a:noFill/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Albert Sans"/>
                <a:cs typeface="Albert Sans"/>
              </a:rPr>
              <a:t>1. Modelar em grafo</a:t>
            </a:r>
          </a:p>
        </p:txBody>
      </p:sp>
      <p:sp>
        <p:nvSpPr>
          <p:cNvPr id="141" name="Etapa"/>
          <p:cNvSpPr/>
          <p:nvPr/>
        </p:nvSpPr>
        <p:spPr>
          <a:xfrm>
            <a:off x="6050000" y="2450000"/>
            <a:ext cx="2400000" cy="650000"/>
          </a:xfrm>
          <a:prstGeom prst="roundRect">
            <a:avLst>
              <a:gd name="adj" fmla="val 8000"/>
            </a:avLst>
          </a:prstGeom>
          <a:solidFill>
            <a:srgbClr val="004AF7"/>
          </a:solidFill>
          <a:ln>
            <a:noFill/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Albert Sans"/>
                <a:cs typeface="Albert Sans"/>
              </a:rPr>
              <a:t>2. Detectar ciclo</a:t>
            </a:r>
          </a:p>
        </p:txBody>
      </p:sp>
      <p:sp>
        <p:nvSpPr>
          <p:cNvPr id="142" name="Etapa"/>
          <p:cNvSpPr/>
          <p:nvPr/>
        </p:nvSpPr>
        <p:spPr>
          <a:xfrm>
            <a:off x="6050000" y="3350000"/>
            <a:ext cx="2400000" cy="650000"/>
          </a:xfrm>
          <a:prstGeom prst="roundRect">
            <a:avLst>
              <a:gd name="adj" fmla="val 8000"/>
            </a:avLst>
          </a:prstGeom>
          <a:solidFill>
            <a:srgbClr val="004AF7"/>
          </a:solidFill>
          <a:ln>
            <a:noFill/>
          </a:ln>
        </p:spPr>
        <p:txBody>
          <a:bodyPr anchor="ctr" lIns="91440" tIns="91440" rIns="91440" bIns="91440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FFFFF"/>
                </a:solidFill>
                <a:latin typeface="Albert Sans"/>
                <a:cs typeface="Albert Sans"/>
              </a:rPr>
              <a:t>3. Ordem topológica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Código: construção do grafo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build_graph em src/main.py</a:t>
            </a:r>
          </a:p>
        </p:txBody>
      </p:sp>
      <p:sp>
        <p:nvSpPr>
          <p:cNvPr id="120" name="Codigo"/>
          <p:cNvSpPr/>
          <p:nvPr/>
        </p:nvSpPr>
        <p:spPr>
          <a:xfrm>
            <a:off x="747350" y="1400000"/>
            <a:ext cx="5000000" cy="29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137160" tIns="109728" rIns="13716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build_graph(names)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def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build_graph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names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graph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Digraph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LETTERS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for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zip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names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names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1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:]):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for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x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y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zip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x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!=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y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u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index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x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),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index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y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not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graph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has_edge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u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    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graph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add_edge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u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break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else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len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) &gt;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len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raise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ImpossibleOrder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return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graph</a:t>
            </a:r>
          </a:p>
        </p:txBody>
      </p:sp>
      <p:sp>
        <p:nvSpPr>
          <p:cNvPr id="121" name="Notas"/>
          <p:cNvSpPr txBox="1"/>
          <p:nvPr/>
        </p:nvSpPr>
        <p:spPr>
          <a:xfrm>
            <a:off x="5947350" y="1400000"/>
            <a:ext cx="274665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zip(names, names[1:]):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pares de nomes consecutivos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1ª diferença: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aresta x → y, depois break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for … else: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sem diferença, um é prefixo do outro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has_edge: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evita aresta repetida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Código: detecção de ciclo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DirectedCycle.dfs (algs4) em src/main.py</a:t>
            </a:r>
          </a:p>
        </p:txBody>
      </p:sp>
      <p:sp>
        <p:nvSpPr>
          <p:cNvPr id="120" name="Codigo"/>
          <p:cNvSpPr/>
          <p:nvPr/>
        </p:nvSpPr>
        <p:spPr>
          <a:xfrm>
            <a:off x="747350" y="1400000"/>
            <a:ext cx="5000000" cy="274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137160" tIns="109728" rIns="13716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DirectedCycle.dfs(G, v)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def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dfs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_marked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] =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True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on_stack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] =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True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for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adj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]: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has_cycle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return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not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_marked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]: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edge_to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] 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dfs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elif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on_stack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]: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...  </a:t>
            </a:r>
            <a:r>
              <a:rPr lang="pt-BR" sz="1100" i="1" dirty="0">
                <a:solidFill>
                  <a:srgbClr val="6B7280"/>
                </a:solidFill>
                <a:latin typeface="Courier New"/>
                <a:cs typeface="Courier New"/>
              </a:rPr>
              <a:t># monta o ciclo com edge_to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on_stack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] =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False</a:t>
            </a:r>
          </a:p>
        </p:txBody>
      </p:sp>
      <p:sp>
        <p:nvSpPr>
          <p:cNvPr id="121" name="Notas"/>
          <p:cNvSpPr txBox="1"/>
          <p:nvPr/>
        </p:nvSpPr>
        <p:spPr>
          <a:xfrm>
            <a:off x="5947350" y="1400000"/>
            <a:ext cx="274665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on_stack[v]: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v está no caminho atual da DFS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w em on_stack: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aresta de volta ao caminho, logo há ciclo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Ao terminar v: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sai da pilha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Ciclo: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CycleError, a saída é Impossible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ulo"/>
          <p:cNvSpPr txBox="1"/>
          <p:nvPr>
            <p:ph type="title"/>
          </p:nvPr>
        </p:nvSpPr>
        <p:spPr>
          <a:xfrm>
            <a:off x="745875" y="230200"/>
            <a:ext cx="7818000" cy="1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 wrap="square">
            <a:noAutofit/>
          </a:bodyPr>
          <a:lstStyle/>
          <a:p>
            <a:pPr marL="0" indent="0" algn="l">
              <a:lnSpc>
                <a:spcPct val="8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pt-BR" sz="2850" b="1"/>
              <a:t>Código: ordem topológica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</a:rPr>
              <a:t>DepthFirstOrder e Topological em src/main.py</a:t>
            </a:r>
          </a:p>
        </p:txBody>
      </p:sp>
      <p:sp>
        <p:nvSpPr>
          <p:cNvPr id="120" name="Codigo"/>
          <p:cNvSpPr/>
          <p:nvPr/>
        </p:nvSpPr>
        <p:spPr>
          <a:xfrm>
            <a:off x="747350" y="1400000"/>
            <a:ext cx="5000000" cy="257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84B7F9"/>
            </a:solidFill>
          </a:ln>
        </p:spPr>
        <p:txBody>
          <a:bodyPr anchor="t" lIns="137160" tIns="109728" rIns="137160" bIns="91440" wrap="square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200" b="1" dirty="0">
                <a:solidFill>
                  <a:srgbClr val="004AF7"/>
                </a:solidFill>
                <a:latin typeface="Albert Sans"/>
                <a:cs typeface="Albert Sans"/>
              </a:rPr>
              <a:t>DepthFirstOrder.dfs e Topological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def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dfs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marked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] =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True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for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in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adj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]: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not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marked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[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]: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    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dfs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,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w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post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append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v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10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i="1" dirty="0">
                <a:solidFill>
                  <a:srgbClr val="6B7280"/>
                </a:solidFill>
                <a:latin typeface="Courier New"/>
                <a:cs typeface="Courier New"/>
              </a:rPr>
              <a:t># Topological.__init__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finder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DirectedCycle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if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b="1" dirty="0">
                <a:solidFill>
                  <a:srgbClr val="004AF7"/>
                </a:solidFill>
                <a:latin typeface="Courier New"/>
                <a:cs typeface="Courier New"/>
              </a:rPr>
              <a:t>not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finder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has_cycle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():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dfs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DepthFirstOrder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g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  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self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order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 xml:space="preserve"> = 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dfs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.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reversePost</a:t>
            </a:r>
            <a:r>
              <a:rPr lang="pt-BR" sz="1100" dirty="0">
                <a:solidFill>
                  <a:srgbClr val="1F2937"/>
                </a:solidFill>
                <a:latin typeface="Courier New"/>
                <a:cs typeface="Courier New"/>
              </a:rPr>
              <a:t>()</a:t>
            </a:r>
          </a:p>
        </p:txBody>
      </p:sp>
      <p:sp>
        <p:nvSpPr>
          <p:cNvPr id="121" name="Notas"/>
          <p:cNvSpPr txBox="1"/>
          <p:nvPr/>
        </p:nvSpPr>
        <p:spPr>
          <a:xfrm>
            <a:off x="5947350" y="1400000"/>
            <a:ext cx="2746650" cy="3000000"/>
          </a:xfrm>
          <a:prstGeom prst="rect">
            <a:avLst/>
          </a:prstGeom>
          <a:noFill/>
          <a:ln>
            <a:noFill/>
          </a:ln>
        </p:spPr>
        <p:txBody>
          <a:bodyPr anchor="t" lIns="91425" tIns="45720" rIns="91425" bIns="45720" wrap="square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post: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v entra depois de todos os seus sucessores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reversePost():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pós-ordem invertida é a ordem topológica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4AF7"/>
              </a:buClr>
              <a:buSzPts val="1400"/>
              <a:buFont typeface="Arial"/>
              <a:buChar char="●"/>
            </a:pPr>
            <a:r>
              <a:rPr lang="pt-BR" sz="1400" b="1" dirty="0">
                <a:solidFill>
                  <a:srgbClr val="1F2937"/>
                </a:solidFill>
                <a:latin typeface="Albert Sans"/>
                <a:cs typeface="Albert Sans"/>
              </a:rPr>
              <a:t>solve:</a:t>
            </a:r>
            <a:r>
              <a:rPr lang="pt-BR" sz="1400" dirty="0">
                <a:solidFill>
                  <a:srgbClr val="1F2937"/>
                </a:solidFill>
                <a:latin typeface="Albert Sans"/>
                <a:cs typeface="Albert Sans"/>
              </a:rPr>
              <a:t xml:space="preserve"> letras com aresta na ordem topológica; as livres no fim, em ordem alfabética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